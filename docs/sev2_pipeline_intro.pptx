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The sev2 analysis pipeline</a:t>
            </a:r>
          </a:p>
          <a:p>
            <a:r>
              <a:rPr sz="2400" b="0" i="0">
                <a:solidFill>
                  <a:srgbClr val="C9D6D8"/>
                </a:solidFill>
                <a:latin typeface="Calibri"/>
              </a:rPr>
              <a:t>Proteomics on Bioconductor's SummarizedExperiment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057400"/>
            <a:ext cx="2377440" cy="762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9A1C"/>
                </a:solidFill>
                <a:latin typeface="Calibri"/>
              </a:rPr>
              <a:t>Import  →  Filter  →  Impute  →  Test  →  Enrich  →  Explore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137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7769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0298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1A1A2E"/>
                </a:solidFill>
                <a:latin typeface="Calibri"/>
              </a:rPr>
              <a:t>Core Packages</a:t>
            </a:r>
            <a:endParaRPr sz="3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12749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5D6B39D-BA9F-A36A-4FBF-A16D87DAD6C2}"/>
              </a:ext>
            </a:extLst>
          </p:cNvPr>
          <p:cNvGrpSpPr/>
          <p:nvPr/>
        </p:nvGrpSpPr>
        <p:grpSpPr>
          <a:xfrm>
            <a:off x="8806630" y="2523910"/>
            <a:ext cx="2957887" cy="761205"/>
            <a:chOff x="453223" y="1628931"/>
            <a:chExt cx="2957887" cy="761205"/>
          </a:xfrm>
        </p:grpSpPr>
        <p:sp>
          <p:nvSpPr>
            <p:cNvPr id="12" name="Rounded Rectangle 7">
              <a:extLst>
                <a:ext uri="{FF2B5EF4-FFF2-40B4-BE49-F238E27FC236}">
                  <a16:creationId xmlns:a16="http://schemas.microsoft.com/office/drawing/2014/main" id="{E89722A3-644B-4812-C5FB-6478379BD3EE}"/>
                </a:ext>
              </a:extLst>
            </p:cNvPr>
            <p:cNvSpPr/>
            <p:nvPr/>
          </p:nvSpPr>
          <p:spPr>
            <a:xfrm>
              <a:off x="548640" y="1628931"/>
              <a:ext cx="2760610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iSEE</a:t>
              </a:r>
              <a:r>
                <a:rPr lang="en-GB" sz="1600" b="1" i="0" dirty="0">
                  <a:solidFill>
                    <a:srgbClr val="FFFFFF"/>
                  </a:solidFill>
                  <a:latin typeface="Consolas"/>
                </a:rPr>
                <a:t>/</a:t>
              </a:r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iSEEu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E240E2D-D022-619C-2858-3E930822B454}"/>
                </a:ext>
              </a:extLst>
            </p:cNvPr>
            <p:cNvSpPr txBox="1"/>
            <p:nvPr/>
          </p:nvSpPr>
          <p:spPr>
            <a:xfrm>
              <a:off x="453223" y="2020804"/>
              <a:ext cx="29578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Creates interactive </a:t>
              </a:r>
              <a:r>
                <a:rPr lang="en-GB" dirty="0" err="1"/>
                <a:t>ShinyApp</a:t>
              </a:r>
              <a:endParaRPr lang="en-DE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00F7723-E0A2-CB45-6DE7-74D0B4CAC056}"/>
              </a:ext>
            </a:extLst>
          </p:cNvPr>
          <p:cNvGrpSpPr/>
          <p:nvPr/>
        </p:nvGrpSpPr>
        <p:grpSpPr>
          <a:xfrm>
            <a:off x="544584" y="3314493"/>
            <a:ext cx="2691597" cy="761205"/>
            <a:chOff x="453223" y="3233063"/>
            <a:chExt cx="2691597" cy="761205"/>
          </a:xfrm>
        </p:grpSpPr>
        <p:sp>
          <p:nvSpPr>
            <p:cNvPr id="39" name="Rounded Rectangle 7">
              <a:extLst>
                <a:ext uri="{FF2B5EF4-FFF2-40B4-BE49-F238E27FC236}">
                  <a16:creationId xmlns:a16="http://schemas.microsoft.com/office/drawing/2014/main" id="{36027619-6CF6-5271-85B9-024E7C27ECA0}"/>
                </a:ext>
              </a:extLst>
            </p:cNvPr>
            <p:cNvSpPr/>
            <p:nvPr/>
          </p:nvSpPr>
          <p:spPr>
            <a:xfrm>
              <a:off x="548640" y="3233063"/>
              <a:ext cx="2596180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openxlsx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3D3C4BA-F872-1A0E-DF96-BAB91D7B07F7}"/>
                </a:ext>
              </a:extLst>
            </p:cNvPr>
            <p:cNvSpPr txBox="1"/>
            <p:nvPr/>
          </p:nvSpPr>
          <p:spPr>
            <a:xfrm>
              <a:off x="453223" y="3624936"/>
              <a:ext cx="22104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Read/Write Excel files</a:t>
              </a:r>
              <a:endParaRPr lang="en-DE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11292D5-5731-EB99-E54F-94F77F174448}"/>
              </a:ext>
            </a:extLst>
          </p:cNvPr>
          <p:cNvGrpSpPr/>
          <p:nvPr/>
        </p:nvGrpSpPr>
        <p:grpSpPr>
          <a:xfrm>
            <a:off x="640002" y="5521358"/>
            <a:ext cx="11082068" cy="705548"/>
            <a:chOff x="485174" y="4190204"/>
            <a:chExt cx="11082068" cy="705548"/>
          </a:xfrm>
        </p:grpSpPr>
        <p:sp>
          <p:nvSpPr>
            <p:cNvPr id="10" name="Rounded Rectangle 7">
              <a:extLst>
                <a:ext uri="{FF2B5EF4-FFF2-40B4-BE49-F238E27FC236}">
                  <a16:creationId xmlns:a16="http://schemas.microsoft.com/office/drawing/2014/main" id="{5EA81F98-08C6-9673-8F05-69D1FFC1C808}"/>
                </a:ext>
              </a:extLst>
            </p:cNvPr>
            <p:cNvSpPr/>
            <p:nvPr/>
          </p:nvSpPr>
          <p:spPr>
            <a:xfrm>
              <a:off x="485174" y="4190204"/>
              <a:ext cx="11082068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>
                  <a:solidFill>
                    <a:srgbClr val="FFFFFF"/>
                  </a:solidFill>
                  <a:latin typeface="Consolas"/>
                </a:rPr>
                <a:t>DEP2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E1311D-DAFC-1B48-136E-17BB030E71D7}"/>
                </a:ext>
              </a:extLst>
            </p:cNvPr>
            <p:cNvSpPr txBox="1"/>
            <p:nvPr/>
          </p:nvSpPr>
          <p:spPr>
            <a:xfrm>
              <a:off x="4611753" y="4526420"/>
              <a:ext cx="2811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Proteomics specific package</a:t>
              </a:r>
              <a:endParaRPr lang="en-DE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CB0FFF7-3C00-4199-08A7-7EAD54F5AC0F}"/>
              </a:ext>
            </a:extLst>
          </p:cNvPr>
          <p:cNvGrpSpPr/>
          <p:nvPr/>
        </p:nvGrpSpPr>
        <p:grpSpPr>
          <a:xfrm>
            <a:off x="609515" y="1784440"/>
            <a:ext cx="2626666" cy="761205"/>
            <a:chOff x="3770242" y="1635597"/>
            <a:chExt cx="2626666" cy="761205"/>
          </a:xfrm>
        </p:grpSpPr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8205419E-5AF7-196B-7F45-4861DDBF9697}"/>
                </a:ext>
              </a:extLst>
            </p:cNvPr>
            <p:cNvSpPr/>
            <p:nvPr/>
          </p:nvSpPr>
          <p:spPr>
            <a:xfrm>
              <a:off x="3804783" y="1635597"/>
              <a:ext cx="2592125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SummarizedExperiment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326391C-C48E-BEBB-44DC-BB8785A42EBE}"/>
                </a:ext>
              </a:extLst>
            </p:cNvPr>
            <p:cNvSpPr txBox="1"/>
            <p:nvPr/>
          </p:nvSpPr>
          <p:spPr>
            <a:xfrm>
              <a:off x="3770242" y="2027470"/>
              <a:ext cx="2264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 class for Results</a:t>
              </a:r>
              <a:endParaRPr lang="en-DE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9865601-1FDF-DC09-C6F8-1A796366A152}"/>
              </a:ext>
            </a:extLst>
          </p:cNvPr>
          <p:cNvGrpSpPr/>
          <p:nvPr/>
        </p:nvGrpSpPr>
        <p:grpSpPr>
          <a:xfrm>
            <a:off x="644055" y="6215834"/>
            <a:ext cx="11075315" cy="723105"/>
            <a:chOff x="9844105" y="1372201"/>
            <a:chExt cx="11109778" cy="723105"/>
          </a:xfrm>
        </p:grpSpPr>
        <p:sp>
          <p:nvSpPr>
            <p:cNvPr id="11" name="Rounded Rectangle 7">
              <a:extLst>
                <a:ext uri="{FF2B5EF4-FFF2-40B4-BE49-F238E27FC236}">
                  <a16:creationId xmlns:a16="http://schemas.microsoft.com/office/drawing/2014/main" id="{B1E4FBBB-7487-6DA1-FB8F-ACBF43EFD2A8}"/>
                </a:ext>
              </a:extLst>
            </p:cNvPr>
            <p:cNvSpPr/>
            <p:nvPr/>
          </p:nvSpPr>
          <p:spPr>
            <a:xfrm>
              <a:off x="9844105" y="1372201"/>
              <a:ext cx="11109778" cy="3918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>
                  <a:solidFill>
                    <a:srgbClr val="FFFFFF"/>
                  </a:solidFill>
                  <a:latin typeface="Consolas"/>
                </a:rPr>
                <a:t>sev2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3A24370-E12C-4854-18B7-8D8670B79AB7}"/>
                </a:ext>
              </a:extLst>
            </p:cNvPr>
            <p:cNvSpPr txBox="1"/>
            <p:nvPr/>
          </p:nvSpPr>
          <p:spPr>
            <a:xfrm>
              <a:off x="14742454" y="1725974"/>
              <a:ext cx="1340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This is ours!</a:t>
              </a:r>
              <a:endParaRPr lang="en-DE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E32AE7A-EE64-B716-D89D-7A6D04BDD358}"/>
              </a:ext>
            </a:extLst>
          </p:cNvPr>
          <p:cNvGrpSpPr/>
          <p:nvPr/>
        </p:nvGrpSpPr>
        <p:grpSpPr>
          <a:xfrm>
            <a:off x="4643561" y="4062369"/>
            <a:ext cx="7019096" cy="760723"/>
            <a:chOff x="9139985" y="2615218"/>
            <a:chExt cx="7019096" cy="760723"/>
          </a:xfrm>
        </p:grpSpPr>
        <p:sp>
          <p:nvSpPr>
            <p:cNvPr id="13" name="Rounded Rectangle 7">
              <a:extLst>
                <a:ext uri="{FF2B5EF4-FFF2-40B4-BE49-F238E27FC236}">
                  <a16:creationId xmlns:a16="http://schemas.microsoft.com/office/drawing/2014/main" id="{4845EDC8-7F92-F388-57AD-175EEE464E7C}"/>
                </a:ext>
              </a:extLst>
            </p:cNvPr>
            <p:cNvSpPr/>
            <p:nvPr/>
          </p:nvSpPr>
          <p:spPr>
            <a:xfrm>
              <a:off x="9139985" y="2615218"/>
              <a:ext cx="7019096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clusterProfiler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71A33DA-A931-2205-9030-D8A438044BC9}"/>
                </a:ext>
              </a:extLst>
            </p:cNvPr>
            <p:cNvSpPr txBox="1"/>
            <p:nvPr/>
          </p:nvSpPr>
          <p:spPr>
            <a:xfrm>
              <a:off x="10192325" y="3006609"/>
              <a:ext cx="46964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Enrichment of Biological Themes and Pathways</a:t>
              </a:r>
              <a:endParaRPr lang="en-DE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E305C7C-3D6D-9C8A-06AE-D33B235C1A03}"/>
              </a:ext>
            </a:extLst>
          </p:cNvPr>
          <p:cNvGrpSpPr/>
          <p:nvPr/>
        </p:nvGrpSpPr>
        <p:grpSpPr>
          <a:xfrm>
            <a:off x="8806631" y="3298238"/>
            <a:ext cx="2957886" cy="696448"/>
            <a:chOff x="7930638" y="4604004"/>
            <a:chExt cx="2957886" cy="696448"/>
          </a:xfrm>
        </p:grpSpPr>
        <p:sp>
          <p:nvSpPr>
            <p:cNvPr id="14" name="Rounded Rectangle 7">
              <a:extLst>
                <a:ext uri="{FF2B5EF4-FFF2-40B4-BE49-F238E27FC236}">
                  <a16:creationId xmlns:a16="http://schemas.microsoft.com/office/drawing/2014/main" id="{92CF8B88-625B-EE8E-18FA-008DED3720D7}"/>
                </a:ext>
              </a:extLst>
            </p:cNvPr>
            <p:cNvSpPr/>
            <p:nvPr/>
          </p:nvSpPr>
          <p:spPr>
            <a:xfrm>
              <a:off x="8033714" y="4604004"/>
              <a:ext cx="2752950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dirty="0" err="1">
                  <a:solidFill>
                    <a:srgbClr val="FFFFFF"/>
                  </a:solidFill>
                  <a:latin typeface="Consolas"/>
                </a:rPr>
                <a:t>C</a:t>
              </a:r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omplexHeatmap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F10DEA-3249-0CB6-FCFB-9D3FFA9655FB}"/>
                </a:ext>
              </a:extLst>
            </p:cNvPr>
            <p:cNvSpPr txBox="1"/>
            <p:nvPr/>
          </p:nvSpPr>
          <p:spPr>
            <a:xfrm>
              <a:off x="7930638" y="4931120"/>
              <a:ext cx="2957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Creates beautiful Heatmaps!</a:t>
              </a:r>
              <a:endParaRPr lang="en-DE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A9E2BA3-D25A-40F6-526E-613C8D252DCE}"/>
              </a:ext>
            </a:extLst>
          </p:cNvPr>
          <p:cNvGrpSpPr/>
          <p:nvPr/>
        </p:nvGrpSpPr>
        <p:grpSpPr>
          <a:xfrm>
            <a:off x="558714" y="2558768"/>
            <a:ext cx="2957886" cy="688961"/>
            <a:chOff x="8704771" y="5129029"/>
            <a:chExt cx="2957886" cy="688961"/>
          </a:xfrm>
        </p:grpSpPr>
        <p:sp>
          <p:nvSpPr>
            <p:cNvPr id="40" name="Rounded Rectangle 7">
              <a:extLst>
                <a:ext uri="{FF2B5EF4-FFF2-40B4-BE49-F238E27FC236}">
                  <a16:creationId xmlns:a16="http://schemas.microsoft.com/office/drawing/2014/main" id="{F839849A-00D7-43A3-5E95-92459EE0EEB1}"/>
                </a:ext>
              </a:extLst>
            </p:cNvPr>
            <p:cNvSpPr/>
            <p:nvPr/>
          </p:nvSpPr>
          <p:spPr>
            <a:xfrm>
              <a:off x="8790114" y="5129029"/>
              <a:ext cx="2592124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dirty="0" err="1">
                  <a:solidFill>
                    <a:srgbClr val="FFFFFF"/>
                  </a:solidFill>
                  <a:latin typeface="Consolas"/>
                </a:rPr>
                <a:t>dplyr</a:t>
              </a:r>
              <a:r>
                <a:rPr lang="en-GB" sz="1600" b="1" dirty="0">
                  <a:solidFill>
                    <a:srgbClr val="FFFFFF"/>
                  </a:solidFill>
                  <a:latin typeface="Consolas"/>
                </a:rPr>
                <a:t>/</a:t>
              </a:r>
              <a:r>
                <a:rPr lang="en-GB" sz="1600" b="1" dirty="0" err="1">
                  <a:solidFill>
                    <a:srgbClr val="FFFFFF"/>
                  </a:solidFill>
                  <a:latin typeface="Consolas"/>
                </a:rPr>
                <a:t>tidyr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D06174-41EC-ABC6-006D-CD57FB6765DB}"/>
                </a:ext>
              </a:extLst>
            </p:cNvPr>
            <p:cNvSpPr txBox="1"/>
            <p:nvPr/>
          </p:nvSpPr>
          <p:spPr>
            <a:xfrm>
              <a:off x="8704771" y="5448658"/>
              <a:ext cx="2957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Handling data in R</a:t>
              </a:r>
              <a:endParaRPr lang="en-DE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FB8A5F0-698A-BF2C-0293-4BAD7FCB2158}"/>
              </a:ext>
            </a:extLst>
          </p:cNvPr>
          <p:cNvGrpSpPr/>
          <p:nvPr/>
        </p:nvGrpSpPr>
        <p:grpSpPr>
          <a:xfrm>
            <a:off x="8824391" y="1772047"/>
            <a:ext cx="2856026" cy="761205"/>
            <a:chOff x="453224" y="1628931"/>
            <a:chExt cx="2856026" cy="761205"/>
          </a:xfrm>
        </p:grpSpPr>
        <p:sp>
          <p:nvSpPr>
            <p:cNvPr id="70" name="Rounded Rectangle 7">
              <a:extLst>
                <a:ext uri="{FF2B5EF4-FFF2-40B4-BE49-F238E27FC236}">
                  <a16:creationId xmlns:a16="http://schemas.microsoft.com/office/drawing/2014/main" id="{1BD0F544-1804-4020-744A-4134EDBF453F}"/>
                </a:ext>
              </a:extLst>
            </p:cNvPr>
            <p:cNvSpPr/>
            <p:nvPr/>
          </p:nvSpPr>
          <p:spPr>
            <a:xfrm>
              <a:off x="548640" y="1628931"/>
              <a:ext cx="2760610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>
                  <a:solidFill>
                    <a:srgbClr val="FFFFFF"/>
                  </a:solidFill>
                  <a:latin typeface="Consolas"/>
                </a:rPr>
                <a:t>ggplot2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AEC6CB-2D0E-3D58-AB7F-A27FA0C84D01}"/>
                </a:ext>
              </a:extLst>
            </p:cNvPr>
            <p:cNvSpPr txBox="1"/>
            <p:nvPr/>
          </p:nvSpPr>
          <p:spPr>
            <a:xfrm>
              <a:off x="453224" y="2020804"/>
              <a:ext cx="1804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Plotting</a:t>
              </a:r>
              <a:endParaRPr lang="en-DE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C76B4A2-9DAD-2CFF-9C76-03D5C4CE979C}"/>
              </a:ext>
            </a:extLst>
          </p:cNvPr>
          <p:cNvGrpSpPr/>
          <p:nvPr/>
        </p:nvGrpSpPr>
        <p:grpSpPr>
          <a:xfrm>
            <a:off x="4638349" y="1771865"/>
            <a:ext cx="2884819" cy="761205"/>
            <a:chOff x="3770242" y="1635597"/>
            <a:chExt cx="2884819" cy="761205"/>
          </a:xfrm>
        </p:grpSpPr>
        <p:sp>
          <p:nvSpPr>
            <p:cNvPr id="73" name="Rounded Rectangle 7">
              <a:extLst>
                <a:ext uri="{FF2B5EF4-FFF2-40B4-BE49-F238E27FC236}">
                  <a16:creationId xmlns:a16="http://schemas.microsoft.com/office/drawing/2014/main" id="{38BD69A6-97F2-E7CD-0972-90FC3893CF0D}"/>
                </a:ext>
              </a:extLst>
            </p:cNvPr>
            <p:cNvSpPr/>
            <p:nvPr/>
          </p:nvSpPr>
          <p:spPr>
            <a:xfrm>
              <a:off x="3804783" y="1635597"/>
              <a:ext cx="2850278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limma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7D49111-8C02-A7CB-03C1-312D288D4941}"/>
                </a:ext>
              </a:extLst>
            </p:cNvPr>
            <p:cNvSpPr txBox="1"/>
            <p:nvPr/>
          </p:nvSpPr>
          <p:spPr>
            <a:xfrm>
              <a:off x="3770242" y="2027470"/>
              <a:ext cx="2264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Statistical testing</a:t>
              </a:r>
              <a:endParaRPr lang="en-DE" dirty="0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0F1E5BC4-5B30-D850-930A-12CB56D70C52}"/>
              </a:ext>
            </a:extLst>
          </p:cNvPr>
          <p:cNvSpPr txBox="1"/>
          <p:nvPr/>
        </p:nvSpPr>
        <p:spPr>
          <a:xfrm>
            <a:off x="511583" y="1292963"/>
            <a:ext cx="2788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i="0" dirty="0">
                <a:latin typeface="Consolas"/>
              </a:rPr>
              <a:t>Data handling</a:t>
            </a:r>
            <a:endParaRPr lang="en-GB" b="0" i="0" dirty="0">
              <a:latin typeface="Calibr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DDDE90-E99B-4564-BB4E-E69F35469EA0}"/>
              </a:ext>
            </a:extLst>
          </p:cNvPr>
          <p:cNvSpPr txBox="1"/>
          <p:nvPr/>
        </p:nvSpPr>
        <p:spPr>
          <a:xfrm>
            <a:off x="4686300" y="1312357"/>
            <a:ext cx="2788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latin typeface="Consolas"/>
              </a:rPr>
              <a:t>Analysis</a:t>
            </a:r>
            <a:endParaRPr lang="en-GB" b="0" i="0" dirty="0">
              <a:latin typeface="Calibr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500ECC-383A-21A2-CA4A-D7F3E9D095F2}"/>
              </a:ext>
            </a:extLst>
          </p:cNvPr>
          <p:cNvSpPr txBox="1"/>
          <p:nvPr/>
        </p:nvSpPr>
        <p:spPr>
          <a:xfrm>
            <a:off x="8902047" y="1288118"/>
            <a:ext cx="2788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latin typeface="Consolas"/>
              </a:rPr>
              <a:t>Presentation</a:t>
            </a:r>
            <a:endParaRPr lang="en-GB" b="0" i="0" dirty="0">
              <a:latin typeface="Calibri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5656983-E474-559F-5D80-CDAD3737EA67}"/>
              </a:ext>
            </a:extLst>
          </p:cNvPr>
          <p:cNvGrpSpPr/>
          <p:nvPr/>
        </p:nvGrpSpPr>
        <p:grpSpPr>
          <a:xfrm>
            <a:off x="644055" y="4832828"/>
            <a:ext cx="11082067" cy="713499"/>
            <a:chOff x="3804782" y="1683303"/>
            <a:chExt cx="11082067" cy="713499"/>
          </a:xfrm>
        </p:grpSpPr>
        <p:sp>
          <p:nvSpPr>
            <p:cNvPr id="80" name="Rounded Rectangle 7">
              <a:extLst>
                <a:ext uri="{FF2B5EF4-FFF2-40B4-BE49-F238E27FC236}">
                  <a16:creationId xmlns:a16="http://schemas.microsoft.com/office/drawing/2014/main" id="{AC48CF2F-3320-1C80-7AC9-1DF5FE98417B}"/>
                </a:ext>
              </a:extLst>
            </p:cNvPr>
            <p:cNvSpPr/>
            <p:nvPr/>
          </p:nvSpPr>
          <p:spPr>
            <a:xfrm>
              <a:off x="3804782" y="1683303"/>
              <a:ext cx="11082067" cy="391873"/>
            </a:xfrm>
            <a:prstGeom prst="roundRect">
              <a:avLst/>
            </a:prstGeom>
            <a:solidFill>
              <a:srgbClr val="0E767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600" b="1" i="0" dirty="0" err="1">
                  <a:solidFill>
                    <a:srgbClr val="FFFFFF"/>
                  </a:solidFill>
                  <a:latin typeface="Consolas"/>
                </a:rPr>
                <a:t>PhosR</a:t>
              </a:r>
              <a:endParaRPr sz="130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628B1C0-0CC2-0354-B988-5A49C3ACE007}"/>
                </a:ext>
              </a:extLst>
            </p:cNvPr>
            <p:cNvSpPr txBox="1"/>
            <p:nvPr/>
          </p:nvSpPr>
          <p:spPr>
            <a:xfrm>
              <a:off x="8207071" y="2027470"/>
              <a:ext cx="2264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/>
                <a:t>Phosphoproteomics</a:t>
              </a:r>
              <a:endParaRPr lang="en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550302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What is Bioconductor?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 dirty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An open-source project providing R packages for the analysis of high-throughput biological data — genomics, transcriptomics, proteomics</a:t>
            </a:r>
          </a:p>
          <a:p>
            <a:pPr>
              <a:spcAft>
                <a:spcPts val="1000"/>
              </a:spcAft>
            </a:pPr>
            <a:r>
              <a:rPr sz="2000" b="1" i="0" dirty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packages are tested together, so they interoperate</a:t>
            </a:r>
          </a:p>
          <a:p>
            <a:pPr>
              <a:spcAft>
                <a:spcPts val="1000"/>
              </a:spcAft>
            </a:pPr>
            <a:r>
              <a:rPr sz="2000" b="1" i="0" dirty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Shared S4 data structures</a:t>
            </a:r>
          </a:p>
          <a:p>
            <a:pPr>
              <a:spcAft>
                <a:spcPts val="1000"/>
              </a:spcAft>
            </a:pPr>
            <a:r>
              <a:rPr sz="2000" b="1" i="0" dirty="0">
                <a:solidFill>
                  <a:srgbClr val="0E767E"/>
                </a:solidFill>
                <a:latin typeface="Calibri"/>
              </a:rPr>
              <a:t>•  </a:t>
            </a:r>
            <a:r>
              <a:rPr lang="en-GB" sz="2000" dirty="0">
                <a:solidFill>
                  <a:srgbClr val="1A1A2E"/>
                </a:solidFill>
                <a:latin typeface="Calibri"/>
              </a:rPr>
              <a:t>A</a:t>
            </a:r>
            <a:r>
              <a:rPr sz="2000" dirty="0" err="1">
                <a:solidFill>
                  <a:srgbClr val="1A1A2E"/>
                </a:solidFill>
                <a:latin typeface="Calibri"/>
              </a:rPr>
              <a:t>nnotation</a:t>
            </a:r>
            <a:r>
              <a:rPr sz="2000" dirty="0">
                <a:solidFill>
                  <a:srgbClr val="1A1A2E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ships as packages too </a:t>
            </a:r>
            <a:br>
              <a:rPr lang="en-GB" sz="2000" b="0" i="0" dirty="0">
                <a:solidFill>
                  <a:srgbClr val="1A1A2E"/>
                </a:solidFill>
                <a:latin typeface="Calibri"/>
              </a:rPr>
            </a:br>
            <a:r>
              <a:rPr lang="en-GB" sz="2000" b="0" i="0" dirty="0">
                <a:solidFill>
                  <a:srgbClr val="1A1A2E"/>
                </a:solidFill>
                <a:latin typeface="Calibri"/>
              </a:rPr>
              <a:t>	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 e.g. </a:t>
            </a:r>
            <a:r>
              <a:rPr sz="2000" b="0" i="0" dirty="0" err="1">
                <a:solidFill>
                  <a:srgbClr val="1A1A2E"/>
                </a:solidFill>
                <a:latin typeface="Calibri"/>
              </a:rPr>
              <a:t>org.Hs.eg.db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 maps human gene symbols, </a:t>
            </a:r>
            <a:r>
              <a:rPr sz="2000" b="0" i="0" dirty="0" err="1">
                <a:solidFill>
                  <a:srgbClr val="1A1A2E"/>
                </a:solidFill>
                <a:latin typeface="Calibri"/>
              </a:rPr>
              <a:t>UniProt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 accessions and GO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The SummarizedExperiment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The single container every sev2 step reads from and writes to.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It bundles four coordinated parts so rows and columns can never fall out of sync: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assay(s)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the numeric matrix — protein intensities (proteins × samples). You can hold several: raw, imputed, imputation mask.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rowData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one row of annotation per protein — gene symbol, UniProt ID, description, and later the test results.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colData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one row per sample — condition, replicate.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metadata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a free-form slot for anything else — e.g. GO-enrichment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How the pieces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40480" y="1920240"/>
            <a:ext cx="5669280" cy="640080"/>
          </a:xfrm>
          <a:prstGeom prst="roundRect">
            <a:avLst/>
          </a:prstGeom>
          <a:solidFill>
            <a:srgbClr val="5A6B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colData()  —  samples  (Ctrl_1 … TreatB_5)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2743200" cy="3108960"/>
          </a:xfrm>
          <a:prstGeom prst="roundRect">
            <a:avLst/>
          </a:prstGeom>
          <a:solidFill>
            <a:srgbClr val="E89A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Consolas"/>
              </a:rPr>
              <a:t>rowData</a:t>
            </a:r>
            <a:r>
              <a:rPr sz="1500" b="1" i="0" dirty="0">
                <a:solidFill>
                  <a:srgbClr val="FFFFFF"/>
                </a:solidFill>
                <a:latin typeface="Consolas"/>
              </a:rPr>
              <a:t>()</a:t>
            </a:r>
          </a:p>
          <a:p>
            <a:pPr algn="ctr"/>
            <a:endParaRPr sz="1500" b="1" i="0" dirty="0">
              <a:solidFill>
                <a:srgbClr val="FFFFFF"/>
              </a:solidFill>
              <a:latin typeface="Consolas"/>
            </a:endParaRPr>
          </a:p>
          <a:p>
            <a:pPr algn="ctr"/>
            <a:r>
              <a:rPr sz="1200" b="0" i="0" dirty="0">
                <a:solidFill>
                  <a:srgbClr val="FFFFFF"/>
                </a:solidFill>
                <a:latin typeface="Calibri"/>
              </a:rPr>
              <a:t>proteins</a:t>
            </a:r>
          </a:p>
          <a:p>
            <a:pPr algn="ctr"/>
            <a:r>
              <a:rPr sz="1200" b="0" i="0" dirty="0">
                <a:solidFill>
                  <a:srgbClr val="FFFFFF"/>
                </a:solidFill>
                <a:latin typeface="Calibri"/>
              </a:rPr>
              <a:t>(gene,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UniProt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/>
            <a:r>
              <a:rPr sz="1200" b="0" i="0" dirty="0">
                <a:solidFill>
                  <a:srgbClr val="FFFFFF"/>
                </a:solidFill>
                <a:latin typeface="Calibri"/>
              </a:rPr>
              <a:t>description,</a:t>
            </a:r>
          </a:p>
          <a:p>
            <a:pPr algn="ctr"/>
            <a:r>
              <a:rPr sz="1200" b="0" i="0" dirty="0">
                <a:solidFill>
                  <a:srgbClr val="FFFFFF"/>
                </a:solidFill>
                <a:latin typeface="Calibri"/>
              </a:rPr>
              <a:t>test results)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651760"/>
            <a:ext cx="5669280" cy="3108960"/>
          </a:xfrm>
          <a:prstGeom prst="roundRect">
            <a:avLst/>
          </a:prstGeom>
          <a:solidFill>
            <a:srgbClr val="0E76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assay(s)()</a:t>
            </a:r>
          </a:p>
          <a:p>
            <a:pPr algn="ctr"/>
            <a:endParaRPr sz="1600" b="1" i="0">
              <a:solidFill>
                <a:srgbClr val="FFFFFF"/>
              </a:solidFill>
              <a:latin typeface="Consolas"/>
            </a:endParaRP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intensity matrix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proteins × samples</a:t>
            </a:r>
          </a:p>
          <a:p>
            <a:pPr algn="ctr"/>
            <a:endParaRPr sz="1300" b="0" i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lfq_raw · imputed_perseus · imputed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943600"/>
            <a:ext cx="5669280" cy="640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metadata()  —  GO enrichment,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B"/>
                </a:solidFill>
                <a:latin typeface="Calibri"/>
              </a:rPr>
              <a:t>Subset the object → rows &amp; columns
stay aligned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What's actually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6B7B"/>
                </a:solidFill>
                <a:latin typeface="Calibri"/>
              </a:rPr>
              <a:t>Real values from the example project (4000 proteins × 15 samples):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2E"/>
                </a:solidFill>
                <a:latin typeface="Calibri"/>
              </a:rPr>
              <a:t>colData()  —  one row per sample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3172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36576" marT="18288" marB="18288" anchor="ctr">
                    <a:solidFill>
                      <a:srgbClr val="5A6B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replicate</a:t>
                      </a:r>
                    </a:p>
                  </a:txBody>
                  <a:tcPr marL="54864" marR="36576" marT="18288" marB="18288" anchor="ctr">
                    <a:solidFill>
                      <a:srgbClr val="5A6B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 marL="54864" marR="36576" marT="18288" marB="18288" anchor="ctr">
                    <a:solidFill>
                      <a:srgbClr val="5A6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Ctrl_1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Ctrl_2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Ctrl_3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776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2E"/>
                </a:solidFill>
                <a:latin typeface="Calibri"/>
              </a:rPr>
              <a:t>assay()  —  intensity matrix (NA = missing)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343399"/>
          <a:ext cx="493776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Ctrl_1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Ctrl_2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Ctrl_3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Ctrl_4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 dirty="0">
                          <a:solidFill>
                            <a:srgbClr val="1A1A2E"/>
                          </a:solidFill>
                          <a:latin typeface="Consolas"/>
                        </a:rPr>
                        <a:t>TSPAN14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dirty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dirty="0">
                          <a:solidFill>
                            <a:srgbClr val="1A1A2E"/>
                          </a:solidFill>
                          <a:latin typeface="Consolas"/>
                        </a:rPr>
                        <a:t>15.75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15.54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PPP4C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14.61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15.61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14.85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BRD7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14.00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GOLGA6D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15.99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15.78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15.57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dirty="0">
                          <a:solidFill>
                            <a:srgbClr val="1A1A2E"/>
                          </a:solidFill>
                          <a:latin typeface="Consolas"/>
                        </a:rPr>
                        <a:t>15.71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19659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2E"/>
                </a:solidFill>
                <a:latin typeface="Calibri"/>
              </a:rPr>
              <a:t>rowData()  —  one row per protein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60720" y="2331720"/>
          <a:ext cx="5852160" cy="143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protein_groups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protein_descriptions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TSPAN14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TSPAN14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Q8NG11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tetraspanin 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PPP4C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PPP4C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A0A024R625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protein phosphatase 4 …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BRD7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BRD7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A0AA34QW01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bromodomain containing 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GOLGA6D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GOLGA6D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A2VDJ1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golgin A6 family member 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Getting your data back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i="0" dirty="0">
                <a:solidFill>
                  <a:srgbClr val="1A1A2E"/>
                </a:solidFill>
                <a:latin typeface="Consolas"/>
              </a:rPr>
              <a:t>assay(se)         </a:t>
            </a:r>
            <a:r>
              <a:rPr sz="1800" b="0" i="0" dirty="0">
                <a:solidFill>
                  <a:srgbClr val="5A6B7B"/>
                </a:solidFill>
                <a:latin typeface="Calibri"/>
              </a:rPr>
              <a:t>  the numeric matrix</a:t>
            </a:r>
          </a:p>
          <a:p>
            <a:pPr>
              <a:spcAft>
                <a:spcPts val="1200"/>
              </a:spcAft>
            </a:pPr>
            <a:r>
              <a:rPr sz="1500" b="0" i="0" dirty="0" err="1">
                <a:solidFill>
                  <a:srgbClr val="1A1A2E"/>
                </a:solidFill>
                <a:latin typeface="Consolas"/>
              </a:rPr>
              <a:t>assayNames</a:t>
            </a:r>
            <a:r>
              <a:rPr sz="1500" b="0" i="0" dirty="0">
                <a:solidFill>
                  <a:srgbClr val="1A1A2E"/>
                </a:solidFill>
                <a:latin typeface="Consolas"/>
              </a:rPr>
              <a:t>(se)    </a:t>
            </a:r>
            <a:r>
              <a:rPr sz="1800" b="0" i="0" dirty="0">
                <a:solidFill>
                  <a:srgbClr val="5A6B7B"/>
                </a:solidFill>
                <a:latin typeface="Calibri"/>
              </a:rPr>
              <a:t>  names of all assays (raw, imputed, mask)</a:t>
            </a:r>
          </a:p>
          <a:p>
            <a:pPr>
              <a:spcAft>
                <a:spcPts val="1200"/>
              </a:spcAft>
            </a:pPr>
            <a:r>
              <a:rPr sz="1500" b="0" i="0" dirty="0" err="1">
                <a:solidFill>
                  <a:srgbClr val="1A1A2E"/>
                </a:solidFill>
                <a:latin typeface="Consolas"/>
              </a:rPr>
              <a:t>rowData</a:t>
            </a:r>
            <a:r>
              <a:rPr sz="1500" b="0" i="0" dirty="0">
                <a:solidFill>
                  <a:srgbClr val="1A1A2E"/>
                </a:solidFill>
                <a:latin typeface="Consolas"/>
              </a:rPr>
              <a:t>(se)       </a:t>
            </a:r>
            <a:r>
              <a:rPr sz="1800" b="0" i="0" dirty="0">
                <a:solidFill>
                  <a:srgbClr val="5A6B7B"/>
                </a:solidFill>
                <a:latin typeface="Calibri"/>
              </a:rPr>
              <a:t>  per-protein annotation + results</a:t>
            </a:r>
          </a:p>
          <a:p>
            <a:pPr>
              <a:spcAft>
                <a:spcPts val="1200"/>
              </a:spcAft>
            </a:pPr>
            <a:r>
              <a:rPr sz="1500" b="0" i="0" dirty="0" err="1">
                <a:solidFill>
                  <a:srgbClr val="1A1A2E"/>
                </a:solidFill>
                <a:latin typeface="Consolas"/>
              </a:rPr>
              <a:t>colData</a:t>
            </a:r>
            <a:r>
              <a:rPr sz="1500" b="0" i="0" dirty="0">
                <a:solidFill>
                  <a:srgbClr val="1A1A2E"/>
                </a:solidFill>
                <a:latin typeface="Consolas"/>
              </a:rPr>
              <a:t>(se)       </a:t>
            </a:r>
            <a:r>
              <a:rPr sz="1800" b="0" i="0" dirty="0">
                <a:solidFill>
                  <a:srgbClr val="5A6B7B"/>
                </a:solidFill>
                <a:latin typeface="Calibri"/>
              </a:rPr>
              <a:t>  the sample design</a:t>
            </a:r>
          </a:p>
          <a:p>
            <a:pPr>
              <a:spcAft>
                <a:spcPts val="1200"/>
              </a:spcAft>
            </a:pPr>
            <a:r>
              <a:rPr sz="1500" b="0" i="0" dirty="0">
                <a:solidFill>
                  <a:srgbClr val="1A1A2E"/>
                </a:solidFill>
                <a:latin typeface="Consolas"/>
              </a:rPr>
              <a:t>metadata(se)      </a:t>
            </a:r>
            <a:r>
              <a:rPr sz="1800" b="0" i="0" dirty="0">
                <a:solidFill>
                  <a:srgbClr val="5A6B7B"/>
                </a:solidFill>
                <a:latin typeface="Calibri"/>
              </a:rPr>
              <a:t>  enrichment results and extras</a:t>
            </a:r>
          </a:p>
          <a:p>
            <a:pPr>
              <a:spcAft>
                <a:spcPts val="1200"/>
              </a:spcAft>
            </a:pPr>
            <a:r>
              <a:rPr sz="1500" b="0" i="0" dirty="0">
                <a:solidFill>
                  <a:srgbClr val="1A1A2E"/>
                </a:solidFill>
                <a:latin typeface="Consolas"/>
              </a:rPr>
              <a:t>se[rows, cols]    </a:t>
            </a:r>
            <a:r>
              <a:rPr sz="1800" b="0" i="0" dirty="0">
                <a:solidFill>
                  <a:srgbClr val="5A6B7B"/>
                </a:solidFill>
                <a:latin typeface="Calibri"/>
              </a:rPr>
              <a:t>  subset — every part stays in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The escape hatch: back to a data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2E"/>
                </a:solidFill>
                <a:latin typeface="Calibri"/>
              </a:rPr>
              <a:t>The SE is great for the standard pipeline. For anything custom, don't fight it — export midway and use dplyr / tidyr on a plain data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303520" cy="73152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i="0" dirty="0" err="1">
                <a:solidFill>
                  <a:srgbClr val="FFFFFF"/>
                </a:solidFill>
                <a:latin typeface="Consolas"/>
              </a:rPr>
              <a:t>get_df_wide</a:t>
            </a:r>
            <a:r>
              <a:rPr sz="1900" b="1" i="0" dirty="0">
                <a:solidFill>
                  <a:srgbClr val="FFFFFF"/>
                </a:solidFill>
                <a:latin typeface="Consolas"/>
              </a:rPr>
              <a:t>(se)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6B7B"/>
                </a:solidFill>
                <a:latin typeface="Calibri"/>
              </a:rPr>
              <a:t>4000 × 23  ·  one row per protein, one column per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73152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nsolas"/>
              </a:rPr>
              <a:t>get_df_long(se)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dirty="0">
                <a:solidFill>
                  <a:srgbClr val="5A6B7B"/>
                </a:solidFill>
                <a:latin typeface="Calibri"/>
              </a:rPr>
              <a:t>60000 × 17  ·  tidy: one row per protein ×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1A2E"/>
                </a:solidFill>
                <a:latin typeface="Calibri"/>
              </a:rPr>
              <a:t>Long format is ready for ggplot2 and group-wise work: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1A1A2E"/>
                </a:solidFill>
                <a:latin typeface="Consolas"/>
              </a:rPr>
              <a:t>get_df_long(se) |&gt; group_by(genes, condition) |&gt;</a:t>
            </a:r>
          </a:p>
          <a:p>
            <a:r>
              <a:rPr sz="1500" b="0" i="0">
                <a:solidFill>
                  <a:srgbClr val="1A1A2E"/>
                </a:solidFill>
                <a:latin typeface="Consolas"/>
              </a:rPr>
              <a:t>  summarise(mean_int = mean(intensity, na.rm = TRUE))</a:t>
            </a:r>
          </a:p>
          <a:p>
            <a:pPr>
              <a:spcBef>
                <a:spcPts val="800"/>
              </a:spcBef>
            </a:pPr>
            <a:r>
              <a:rPr sz="1500" b="0" i="1">
                <a:solidFill>
                  <a:srgbClr val="5A6B7B"/>
                </a:solidFill>
                <a:latin typeface="Calibri"/>
              </a:rPr>
              <a:t>Do the custom analysis on the data frame, then join results back into rowData() if you want them in the object.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SEV2 PIPELINE  ·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Import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 dirty="0" err="1">
                <a:solidFill>
                  <a:srgbClr val="FFFFFF"/>
                </a:solidFill>
                <a:latin typeface="Consolas"/>
              </a:rPr>
              <a:t>optimized_spectronaut_to_se</a:t>
            </a:r>
            <a:r>
              <a:rPr sz="1800" b="1" i="0" dirty="0">
                <a:solidFill>
                  <a:srgbClr val="FFFFFF"/>
                </a:solidFill>
                <a:latin typeface="Consolas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Read the 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Spectronaut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 report + condition setup, clean the messy column names, build a 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SummarizedExperiment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 (4000 × 15). No candidates table needed. 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plot_numbers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() checks each run identified enough proteins.</a:t>
            </a:r>
          </a:p>
        </p:txBody>
      </p:sp>
      <p:pic>
        <p:nvPicPr>
          <p:cNvPr id="8" name="Picture 7" descr="01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SEV2 PIPELINE  ·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 dirty="0" err="1">
                <a:solidFill>
                  <a:srgbClr val="FFFFFF"/>
                </a:solidFill>
                <a:latin typeface="Consolas"/>
              </a:rPr>
              <a:t>filter_perseus</a:t>
            </a:r>
            <a:r>
              <a:rPr sz="1800" b="1" i="0" dirty="0">
                <a:solidFill>
                  <a:srgbClr val="FFFFFF"/>
                </a:solidFill>
                <a:latin typeface="Consolas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Drop proteins with too many missing values (4000 → 2837). </a:t>
            </a:r>
            <a:endParaRPr lang="en-GB" sz="1800" b="0" i="0" dirty="0">
              <a:solidFill>
                <a:srgbClr val="1A1A2E"/>
              </a:solidFill>
              <a:latin typeface="Calibri"/>
            </a:endParaRPr>
          </a:p>
          <a:p>
            <a:endParaRPr lang="en-GB" dirty="0">
              <a:solidFill>
                <a:srgbClr val="1A1A2E"/>
              </a:solidFill>
              <a:latin typeface="Calibri"/>
            </a:endParaRPr>
          </a:p>
          <a:p>
            <a:r>
              <a:rPr sz="1800" b="0" i="0" dirty="0" err="1">
                <a:solidFill>
                  <a:srgbClr val="1A1A2E"/>
                </a:solidFill>
                <a:latin typeface="Calibri"/>
              </a:rPr>
              <a:t>plot_detect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() reveals the missingness is low-abundance dropout (MNAR): proteins with NAs sit at lower intensity — which tells us how to impute.</a:t>
            </a:r>
          </a:p>
        </p:txBody>
      </p:sp>
      <p:pic>
        <p:nvPicPr>
          <p:cNvPr id="8" name="Picture 7" descr="04_de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SEV2 PIPELINE  ·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Impute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impute_perseus()  /  impute_DEP()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Fill remaining NAs from a left-shifted Gaussian (Perseus style). </a:t>
            </a:r>
            <a:endParaRPr lang="en-GB" sz="1800" b="0" i="0" dirty="0">
              <a:solidFill>
                <a:srgbClr val="1A1A2E"/>
              </a:solidFill>
              <a:latin typeface="Calibri"/>
            </a:endParaRPr>
          </a:p>
          <a:p>
            <a:endParaRPr lang="en-GB" dirty="0">
              <a:solidFill>
                <a:srgbClr val="1A1A2E"/>
              </a:solidFill>
              <a:latin typeface="Calibri"/>
            </a:endParaRPr>
          </a:p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The raw matrix and an imputation mask are kept as extra assays. </a:t>
            </a:r>
            <a:endParaRPr lang="en-GB" sz="1800" b="0" i="0" dirty="0">
              <a:solidFill>
                <a:srgbClr val="1A1A2E"/>
              </a:solidFill>
              <a:latin typeface="Calibri"/>
            </a:endParaRPr>
          </a:p>
          <a:p>
            <a:endParaRPr lang="en-GB" dirty="0">
              <a:solidFill>
                <a:srgbClr val="1A1A2E"/>
              </a:solidFill>
              <a:latin typeface="Calibri"/>
            </a:endParaRPr>
          </a:p>
          <a:p>
            <a:r>
              <a:rPr sz="1800" b="0" i="0" dirty="0" err="1">
                <a:solidFill>
                  <a:srgbClr val="1A1A2E"/>
                </a:solidFill>
                <a:latin typeface="Calibri"/>
              </a:rPr>
              <a:t>plot_imputation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() shows the filled-in low-intensity shoulder.</a:t>
            </a:r>
          </a:p>
        </p:txBody>
      </p:sp>
      <p:pic>
        <p:nvPicPr>
          <p:cNvPr id="8" name="Picture 7" descr="06_imp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SEV2 PIPELINE  ·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test_diff()  +  add_rejections()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Differential abundance via 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limma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. </a:t>
            </a:r>
            <a:endParaRPr lang="en-GB" sz="1800" b="0" i="0" dirty="0">
              <a:solidFill>
                <a:srgbClr val="1A1A2E"/>
              </a:solidFill>
              <a:latin typeface="Calibri"/>
            </a:endParaRPr>
          </a:p>
          <a:p>
            <a:endParaRPr lang="en-GB" dirty="0">
              <a:solidFill>
                <a:srgbClr val="1A1A2E"/>
              </a:solidFill>
              <a:latin typeface="Calibri"/>
            </a:endParaRPr>
          </a:p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type='control' tests each treatment vs Ctr</a:t>
            </a:r>
            <a:r>
              <a:rPr lang="en-GB" dirty="0">
                <a:solidFill>
                  <a:srgbClr val="1A1A2E"/>
                </a:solidFill>
                <a:latin typeface="Calibri"/>
              </a:rPr>
              <a:t>l</a:t>
            </a:r>
          </a:p>
          <a:p>
            <a:endParaRPr lang="en-GB" sz="1800" b="0" i="0" dirty="0">
              <a:solidFill>
                <a:srgbClr val="1A1A2E"/>
              </a:solidFill>
              <a:latin typeface="Calibri"/>
            </a:endParaRPr>
          </a:p>
          <a:p>
            <a:r>
              <a:rPr lang="en-GB" dirty="0">
                <a:solidFill>
                  <a:srgbClr val="1A1A2E"/>
                </a:solidFill>
                <a:latin typeface="Calibri"/>
              </a:rPr>
              <a:t>Add_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rejections</a:t>
            </a:r>
            <a:r>
              <a:rPr lang="en-GB" sz="1800" b="0" i="0" dirty="0">
                <a:solidFill>
                  <a:srgbClr val="1A1A2E"/>
                </a:solidFill>
                <a:latin typeface="Calibri"/>
              </a:rPr>
              <a:t>()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 flag</a:t>
            </a:r>
            <a:r>
              <a:rPr lang="en-GB" sz="1800" b="0" i="0" dirty="0">
                <a:solidFill>
                  <a:srgbClr val="1A1A2E"/>
                </a:solidFill>
                <a:latin typeface="Calibri"/>
              </a:rPr>
              <a:t>s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 hits at adj. p &lt; 0.05 and |log2FC| &gt; 1 (92 in 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TreatA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, 102 in 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TreatB</a:t>
            </a:r>
            <a:r>
              <a:rPr lang="en-GB" dirty="0">
                <a:solidFill>
                  <a:srgbClr val="1A1A2E"/>
                </a:solidFill>
                <a:latin typeface="Calibri"/>
              </a:rPr>
              <a:t>)</a:t>
            </a:r>
          </a:p>
          <a:p>
            <a:endParaRPr lang="en-GB" sz="1800" b="0" i="0" dirty="0">
              <a:solidFill>
                <a:srgbClr val="1A1A2E"/>
              </a:solidFill>
              <a:latin typeface="Calibri"/>
            </a:endParaRPr>
          </a:p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sev2::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plot_volcano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() draws the result.</a:t>
            </a:r>
          </a:p>
        </p:txBody>
      </p:sp>
      <p:pic>
        <p:nvPicPr>
          <p:cNvPr id="8" name="Picture 7" descr="10_volcan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8593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SEV2 PIPELINE  ·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1A1A2E"/>
                </a:solidFill>
                <a:latin typeface="Calibri"/>
              </a:rPr>
              <a:t>Enrich</a:t>
            </a:r>
            <a:r>
              <a:rPr lang="en-GB" sz="3200" b="1" i="0" dirty="0" err="1">
                <a:solidFill>
                  <a:srgbClr val="1A1A2E"/>
                </a:solidFill>
                <a:latin typeface="Calibri"/>
              </a:rPr>
              <a:t>ment</a:t>
            </a:r>
            <a:endParaRPr sz="3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enrich_go_se()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GO / gene-set enrichment (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clusterProfiler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::</a:t>
            </a:r>
            <a:r>
              <a:rPr sz="1800" b="0" i="0" dirty="0" err="1">
                <a:solidFill>
                  <a:srgbClr val="1A1A2E"/>
                </a:solidFill>
                <a:latin typeface="Calibri"/>
              </a:rPr>
              <a:t>gseGO</a:t>
            </a:r>
            <a:r>
              <a:rPr sz="1800" b="0" i="0" dirty="0">
                <a:solidFill>
                  <a:srgbClr val="1A1A2E"/>
                </a:solidFill>
                <a:latin typeface="Calibri"/>
              </a:rPr>
              <a:t>) on a fold-change column. </a:t>
            </a:r>
            <a:endParaRPr lang="en-GB" sz="1800" b="0" i="0" dirty="0">
              <a:solidFill>
                <a:srgbClr val="1A1A2E"/>
              </a:solidFill>
              <a:latin typeface="Calibri"/>
            </a:endParaRPr>
          </a:p>
          <a:p>
            <a:endParaRPr lang="en-GB" dirty="0">
              <a:solidFill>
                <a:srgbClr val="1A1A2E"/>
              </a:solidFill>
              <a:latin typeface="Calibri"/>
            </a:endParaRPr>
          </a:p>
          <a:p>
            <a:r>
              <a:rPr sz="1800" b="0" i="0" dirty="0">
                <a:solidFill>
                  <a:srgbClr val="1A1A2E"/>
                </a:solidFill>
                <a:latin typeface="Calibri"/>
              </a:rPr>
              <a:t>Results are stored inside metadata(se) — the object stays the single source of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5669280" cy="2011680"/>
          </a:xfrm>
          <a:prstGeom prst="roundRect">
            <a:avLst/>
          </a:prstGeom>
          <a:solidFill>
            <a:srgbClr val="ECE7DD"/>
          </a:solidFill>
          <a:ln>
            <a:solidFill>
              <a:srgbClr val="0E7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i="1">
                <a:solidFill>
                  <a:srgbClr val="5A6B7B"/>
                </a:solidFill>
                <a:latin typeface="Calibri"/>
              </a:rPr>
              <a:t>results live in
metadata(se)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SEV2 PIPELINE  ·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Explore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se_to_isee()  +  isee_mini()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2E"/>
                </a:solidFill>
                <a:latin typeface="Calibri"/>
              </a:rPr>
              <a:t>Launch an interactive iSEE app with custom panels: volcano plots, NCBI gene links, and a GO-enrichment table — all driven by the same object.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One object, start to finish.</a:t>
            </a:r>
          </a:p>
          <a:p>
            <a:r>
              <a:rPr sz="2200" b="0" i="0">
                <a:solidFill>
                  <a:srgbClr val="E89A1C"/>
                </a:solidFill>
                <a:latin typeface="Calibri"/>
              </a:rPr>
              <a:t>Full worked example with code + output: vignettes/worked_example.md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5850</TotalTime>
  <Words>1011</Words>
  <Application>Microsoft Office PowerPoint</Application>
  <PresentationFormat>Widescreen</PresentationFormat>
  <Paragraphs>183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Arvid</cp:lastModifiedBy>
  <cp:revision>4</cp:revision>
  <dcterms:created xsi:type="dcterms:W3CDTF">2013-01-27T09:14:16Z</dcterms:created>
  <dcterms:modified xsi:type="dcterms:W3CDTF">2026-08-17T09:25:18Z</dcterms:modified>
  <cp:category/>
</cp:coreProperties>
</file>