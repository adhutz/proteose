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Calibri"/>
              </a:rPr>
              <a:t>The proteoSE analysis pipeline</a:t>
            </a:r>
          </a:p>
          <a:p>
            <a:r>
              <a:rPr sz="2400" b="0" i="0">
                <a:solidFill>
                  <a:srgbClr val="C9D6D8"/>
                </a:solidFill>
                <a:latin typeface="Calibri"/>
              </a:rPr>
              <a:t>Proteomics on Bioconductor's SummarizedExperiment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057400"/>
            <a:ext cx="2377440" cy="76200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E89A1C"/>
                </a:solidFill>
                <a:latin typeface="Calibri"/>
              </a:rPr>
              <a:t>Import  →  Filter  →  Impute  →  Test  →  Enrich  →  Explore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E767E"/>
                </a:solidFill>
                <a:latin typeface="Calibri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2E"/>
                </a:solidFill>
                <a:latin typeface="Calibri"/>
              </a:rPr>
              <a:t>What is Bioconductor?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2011680" cy="63500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0E767E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A1A2E"/>
                </a:solidFill>
                <a:latin typeface="Calibri"/>
              </a:rPr>
              <a:t>An open-source project providing R packages for the analysis of high-throughput biological data — genomics, transcriptomics, proteomics.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0E767E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A1A2E"/>
                </a:solidFill>
                <a:latin typeface="Calibri"/>
              </a:rPr>
              <a:t>Twice-yearly coordinated releases: packages are tested together, so they interoperate rather than each inventing its own data format.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0E767E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A1A2E"/>
                </a:solidFill>
                <a:latin typeface="Calibri"/>
              </a:rPr>
              <a:t>Shared S4 data structures are the glue. Learn one container and dozens of packages become usable.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0E767E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A1A2E"/>
                </a:solidFill>
                <a:latin typeface="Calibri"/>
              </a:rPr>
              <a:t>Rich domain annotation ships as packages too — e.g. org.Hs.eg.db maps human gene symbols, UniProt accessions and GO terms.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89A1C"/>
                </a:solidFill>
                <a:latin typeface="Calibri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2E"/>
                </a:solidFill>
                <a:latin typeface="Calibri"/>
              </a:rPr>
              <a:t>Why it fits proteomics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2011680" cy="63500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0E767E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A1A2E"/>
                </a:solidFill>
                <a:latin typeface="Calibri"/>
              </a:rPr>
              <a:t>A proteomics experiment is a matrix (proteins × samples) plus metadata on both — exactly what Bioconductor containers model.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0E767E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A1A2E"/>
                </a:solidFill>
                <a:latin typeface="Calibri"/>
              </a:rPr>
              <a:t>Missing values, imputation, and linear-model testing (limma) are already solved and battle-tested here.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0E767E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A1A2E"/>
                </a:solidFill>
                <a:latin typeface="Calibri"/>
              </a:rPr>
              <a:t>proteoSE stands on the shoulders of DEP2, limma, clusterProfiler, PhosR and iSEE — it adds convenience, not a new ecosystem.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0E767E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A1A2E"/>
                </a:solidFill>
                <a:latin typeface="Calibri"/>
              </a:rPr>
              <a:t>One object carries raw data, results and annotation together, so your analysis stays reproducible and shareable.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E767E"/>
                </a:solidFill>
                <a:latin typeface="Calibri"/>
              </a:rPr>
              <a:t>THE CORE DATA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2E"/>
                </a:solidFill>
                <a:latin typeface="Calibri"/>
              </a:rPr>
              <a:t>The SummarizedExperiment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2011680" cy="63500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0E767E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A1A2E"/>
                </a:solidFill>
                <a:latin typeface="Calibri"/>
              </a:rPr>
              <a:t>The single container every proteoSE step reads from and writes to.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0E767E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A1A2E"/>
                </a:solidFill>
                <a:latin typeface="Calibri"/>
              </a:rPr>
              <a:t>It bundles four coordinated parts so rows and columns can never fall out of sync: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E767E"/>
                </a:solidFill>
                <a:latin typeface="Calibri"/>
              </a:rPr>
              <a:t>assay(s)  </a:t>
            </a:r>
            <a:r>
              <a:rPr sz="1800" b="0" i="0">
                <a:solidFill>
                  <a:srgbClr val="1A1A2E"/>
                </a:solidFill>
                <a:latin typeface="Calibri"/>
              </a:rPr>
              <a:t>the numeric matrix — protein intensities (proteins × samples). You can hold several: raw, imputed, imputation mask.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E767E"/>
                </a:solidFill>
                <a:latin typeface="Calibri"/>
              </a:rPr>
              <a:t>rowData  </a:t>
            </a:r>
            <a:r>
              <a:rPr sz="1800" b="0" i="0">
                <a:solidFill>
                  <a:srgbClr val="1A1A2E"/>
                </a:solidFill>
                <a:latin typeface="Calibri"/>
              </a:rPr>
              <a:t>one row of annotation per protein — gene symbol, UniProt ID, description, and later the test results.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E767E"/>
                </a:solidFill>
                <a:latin typeface="Calibri"/>
              </a:rPr>
              <a:t>colData  </a:t>
            </a:r>
            <a:r>
              <a:rPr sz="1800" b="0" i="0">
                <a:solidFill>
                  <a:srgbClr val="1A1A2E"/>
                </a:solidFill>
                <a:latin typeface="Calibri"/>
              </a:rPr>
              <a:t>one row per sample — condition, replicate.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E767E"/>
                </a:solidFill>
                <a:latin typeface="Calibri"/>
              </a:rPr>
              <a:t>metadata  </a:t>
            </a:r>
            <a:r>
              <a:rPr sz="1800" b="0" i="0">
                <a:solidFill>
                  <a:srgbClr val="1A1A2E"/>
                </a:solidFill>
                <a:latin typeface="Calibri"/>
              </a:rPr>
              <a:t>a free-form slot for anything else — e.g. GO-enrichment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E767E"/>
                </a:solidFill>
                <a:latin typeface="Calibri"/>
              </a:rPr>
              <a:t>THE CORE DATA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2E"/>
                </a:solidFill>
                <a:latin typeface="Calibri"/>
              </a:rPr>
              <a:t>How the pieces 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2011680" cy="63500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0" y="1920240"/>
            <a:ext cx="5669280" cy="640080"/>
          </a:xfrm>
          <a:prstGeom prst="roundRect">
            <a:avLst/>
          </a:prstGeom>
          <a:solidFill>
            <a:srgbClr val="5A6B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colData()  —  samples  (Ctrl_1 … TreatB_5)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51760"/>
            <a:ext cx="2743200" cy="3108960"/>
          </a:xfrm>
          <a:prstGeom prst="roundRect">
            <a:avLst/>
          </a:prstGeom>
          <a:solidFill>
            <a:srgbClr val="E89A1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onsolas"/>
              </a:rPr>
              <a:t>rowData()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proteins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(gene, UniProt,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description,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test results)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651760"/>
            <a:ext cx="5669280" cy="3108960"/>
          </a:xfrm>
          <a:prstGeom prst="roundRect">
            <a:avLst/>
          </a:prstGeom>
          <a:solidFill>
            <a:srgbClr val="0E767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onsolas"/>
              </a:rPr>
              <a:t>assay(s)()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intensity matrix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proteins × samples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lfq_raw · imputed_perseus · imputed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5943600"/>
            <a:ext cx="5669280" cy="6400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metadata()  —  GO enrichment,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A6B7B"/>
                </a:solidFill>
                <a:latin typeface="Calibri"/>
              </a:rPr>
              <a:t>Subset the object → rows &amp; columns
stay aligned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89A1C"/>
                </a:solidFill>
                <a:latin typeface="Calibri"/>
              </a:rPr>
              <a:t>THE CORE DATA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2E"/>
                </a:solidFill>
                <a:latin typeface="Calibri"/>
              </a:rPr>
              <a:t>What's actually inside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2011680" cy="63500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5A6B7B"/>
                </a:solidFill>
                <a:latin typeface="Calibri"/>
              </a:rPr>
              <a:t>Real values from the example project (4000 proteins × 15 samples):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A1A2E"/>
                </a:solidFill>
                <a:latin typeface="Calibri"/>
              </a:rPr>
              <a:t>colData()  —  one row per sample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331720"/>
          <a:ext cx="3657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109728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4864" marR="36576" marT="18288" marB="18288" anchor="ctr">
                    <a:solidFill>
                      <a:srgbClr val="5A6B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replicate</a:t>
                      </a:r>
                    </a:p>
                  </a:txBody>
                  <a:tcPr marL="54864" marR="36576" marT="18288" marB="18288" anchor="ctr">
                    <a:solidFill>
                      <a:srgbClr val="5A6B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sample</a:t>
                      </a:r>
                    </a:p>
                  </a:txBody>
                  <a:tcPr marL="54864" marR="36576" marT="18288" marB="18288" anchor="ctr">
                    <a:solidFill>
                      <a:srgbClr val="5A6B7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Ctrl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Ctrl_1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Ctrl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Ctrl_2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Ctrl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Ctrl_3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97763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A1A2E"/>
                </a:solidFill>
                <a:latin typeface="Calibri"/>
              </a:rPr>
              <a:t>assay()  —  intensity matrix (NA = missing)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343399"/>
          <a:ext cx="49377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14400"/>
                <a:gridCol w="91440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0E76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Ctrl_1</a:t>
                      </a:r>
                    </a:p>
                  </a:txBody>
                  <a:tcPr marL="54864" marR="36576" marT="18288" marB="18288" anchor="ctr">
                    <a:solidFill>
                      <a:srgbClr val="0E76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Ctrl_2</a:t>
                      </a:r>
                    </a:p>
                  </a:txBody>
                  <a:tcPr marL="54864" marR="36576" marT="18288" marB="18288" anchor="ctr">
                    <a:solidFill>
                      <a:srgbClr val="0E76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Ctrl_3</a:t>
                      </a:r>
                    </a:p>
                  </a:txBody>
                  <a:tcPr marL="54864" marR="36576" marT="18288" marB="18288" anchor="ctr">
                    <a:solidFill>
                      <a:srgbClr val="0E76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Ctrl_4</a:t>
                      </a:r>
                    </a:p>
                  </a:txBody>
                  <a:tcPr marL="54864" marR="36576" marT="18288" marB="18288" anchor="ctr">
                    <a:solidFill>
                      <a:srgbClr val="0E767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TSPAN14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NA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15.75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15.97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15.54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PPP4C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NA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14.61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15.61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14.85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BRD7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NA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NA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NA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14.00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GOLGA6D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15.99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15.78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15.57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onsolas"/>
                        </a:rPr>
                        <a:t>15.71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60720" y="196596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A1A2E"/>
                </a:solidFill>
                <a:latin typeface="Calibri"/>
              </a:rPr>
              <a:t>rowData()  —  one row per protein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760720" y="2331720"/>
          <a:ext cx="58521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46304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54864" marR="36576" marT="18288" marB="18288" anchor="ctr">
                    <a:solidFill>
                      <a:srgbClr val="E89A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genes</a:t>
                      </a:r>
                    </a:p>
                  </a:txBody>
                  <a:tcPr marL="54864" marR="36576" marT="18288" marB="18288" anchor="ctr">
                    <a:solidFill>
                      <a:srgbClr val="E89A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protein_groups</a:t>
                      </a:r>
                    </a:p>
                  </a:txBody>
                  <a:tcPr marL="54864" marR="36576" marT="18288" marB="18288" anchor="ctr">
                    <a:solidFill>
                      <a:srgbClr val="E89A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protein_descriptions</a:t>
                      </a:r>
                    </a:p>
                  </a:txBody>
                  <a:tcPr marL="54864" marR="36576" marT="18288" marB="18288" anchor="ctr">
                    <a:solidFill>
                      <a:srgbClr val="E89A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TSPAN14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TSPAN14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Q8NG11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tetraspanin 14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PPP4C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PPP4C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A0A024R625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protein phosphatase 4 …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BRD7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BRD7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A0AA34QW01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bromodomain containing 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GOLGA6D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GOLGA6D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A2VDJ1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onsolas"/>
                        </a:rPr>
                        <a:t>golgin A6 family member D</a:t>
                      </a:r>
                    </a:p>
                  </a:txBody>
                  <a:tcPr marL="54864" marR="36576" marT="18288" marB="18288" anchor="ctr">
                    <a:solidFill>
                      <a:srgbClr val="ECE7D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E767E"/>
                </a:solidFill>
                <a:latin typeface="Calibri"/>
              </a:rPr>
              <a:t>THE CORE DATA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2E"/>
                </a:solidFill>
                <a:latin typeface="Calibri"/>
              </a:rPr>
              <a:t>Getting your data back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2011680" cy="63500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 i="0">
                <a:solidFill>
                  <a:srgbClr val="1A1A2E"/>
                </a:solidFill>
                <a:latin typeface="Consolas"/>
              </a:rPr>
              <a:t>assay(se)         </a:t>
            </a:r>
            <a:r>
              <a:rPr sz="1800" b="0" i="0">
                <a:solidFill>
                  <a:srgbClr val="5A6B7B"/>
                </a:solidFill>
                <a:latin typeface="Calibri"/>
              </a:rPr>
              <a:t>  the numeric matrix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1A1A2E"/>
                </a:solidFill>
                <a:latin typeface="Consolas"/>
              </a:rPr>
              <a:t>assayNames(se)    </a:t>
            </a:r>
            <a:r>
              <a:rPr sz="1800" b="0" i="0">
                <a:solidFill>
                  <a:srgbClr val="5A6B7B"/>
                </a:solidFill>
                <a:latin typeface="Calibri"/>
              </a:rPr>
              <a:t>  names of all assays (raw, imputed, mask)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1A1A2E"/>
                </a:solidFill>
                <a:latin typeface="Consolas"/>
              </a:rPr>
              <a:t>rowData(se)       </a:t>
            </a:r>
            <a:r>
              <a:rPr sz="1800" b="0" i="0">
                <a:solidFill>
                  <a:srgbClr val="5A6B7B"/>
                </a:solidFill>
                <a:latin typeface="Calibri"/>
              </a:rPr>
              <a:t>  per-protein annotation + results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1A1A2E"/>
                </a:solidFill>
                <a:latin typeface="Consolas"/>
              </a:rPr>
              <a:t>colData(se)       </a:t>
            </a:r>
            <a:r>
              <a:rPr sz="1800" b="0" i="0">
                <a:solidFill>
                  <a:srgbClr val="5A6B7B"/>
                </a:solidFill>
                <a:latin typeface="Calibri"/>
              </a:rPr>
              <a:t>  the sample design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1A1A2E"/>
                </a:solidFill>
                <a:latin typeface="Consolas"/>
              </a:rPr>
              <a:t>metadata(se)      </a:t>
            </a:r>
            <a:r>
              <a:rPr sz="1800" b="0" i="0">
                <a:solidFill>
                  <a:srgbClr val="5A6B7B"/>
                </a:solidFill>
                <a:latin typeface="Calibri"/>
              </a:rPr>
              <a:t>  enrichment results and extras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1A1A2E"/>
                </a:solidFill>
                <a:latin typeface="Consolas"/>
              </a:rPr>
              <a:t>se[rows, cols]    </a:t>
            </a:r>
            <a:r>
              <a:rPr sz="1800" b="0" i="0">
                <a:solidFill>
                  <a:srgbClr val="5A6B7B"/>
                </a:solidFill>
                <a:latin typeface="Calibri"/>
              </a:rPr>
              <a:t>  subset — every part stays in sync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89A1C"/>
                </a:solidFill>
                <a:latin typeface="Calibri"/>
              </a:rPr>
              <a:t>THE CORE DATA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2E"/>
                </a:solidFill>
                <a:latin typeface="Calibri"/>
              </a:rPr>
              <a:t>The escape hatch: back to a data frame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2011680" cy="63500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1A1A2E"/>
                </a:solidFill>
                <a:latin typeface="Calibri"/>
              </a:rPr>
              <a:t>The SE is great for the standard pipeline. For anything custom, don't fight it — export midway and use dplyr / tidyr on a plain data frame.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5303520" cy="731520"/>
          </a:xfrm>
          <a:prstGeom prst="round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Consolas"/>
              </a:rPr>
              <a:t>get_df_wide(se)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A6B7B"/>
                </a:solidFill>
                <a:latin typeface="Calibri"/>
              </a:rPr>
              <a:t>4000 × 23  ·  one row per protein, one column per sample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303520" cy="731520"/>
          </a:xfrm>
          <a:prstGeom prst="round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Consolas"/>
              </a:rPr>
              <a:t>get_df_long(se)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840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A6B7B"/>
                </a:solidFill>
                <a:latin typeface="Calibri"/>
              </a:rPr>
              <a:t>60000 × 17  ·  tidy: one row per protein × sample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1A1A2E"/>
                </a:solidFill>
                <a:latin typeface="Calibri"/>
              </a:rPr>
              <a:t>Long format is ready for ggplot2 and group-wise work:</a:t>
            </a:r>
          </a:p>
          <a:p>
            <a:pPr>
              <a:spcBef>
                <a:spcPts val="800"/>
              </a:spcBef>
            </a:pPr>
            <a:r>
              <a:rPr sz="1500" b="0" i="0">
                <a:solidFill>
                  <a:srgbClr val="1A1A2E"/>
                </a:solidFill>
                <a:latin typeface="Consolas"/>
              </a:rPr>
              <a:t>get_df_long(se) |&gt; group_by(genes, condition) |&gt;</a:t>
            </a:r>
          </a:p>
          <a:p>
            <a:r>
              <a:rPr sz="1500" b="0" i="0">
                <a:solidFill>
                  <a:srgbClr val="1A1A2E"/>
                </a:solidFill>
                <a:latin typeface="Consolas"/>
              </a:rPr>
              <a:t>  summarise(mean_int = mean(intensity, na.rm = TRUE))</a:t>
            </a:r>
          </a:p>
          <a:p>
            <a:pPr>
              <a:spcBef>
                <a:spcPts val="800"/>
              </a:spcBef>
            </a:pPr>
            <a:r>
              <a:rPr sz="1500" b="0" i="1">
                <a:solidFill>
                  <a:srgbClr val="5A6B7B"/>
                </a:solidFill>
                <a:latin typeface="Calibri"/>
              </a:rPr>
              <a:t>Do the custom analysis on the data frame, then join results back into rowData() if you want them in the object.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E767E"/>
                </a:solidFill>
                <a:latin typeface="Calibri"/>
              </a:rPr>
              <a:t>PROTEOSE PIPELINE  · 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2E"/>
                </a:solidFill>
                <a:latin typeface="Calibri"/>
              </a:rPr>
              <a:t>Import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2011680" cy="63500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029200" cy="868680"/>
          </a:xfrm>
          <a:prstGeom prst="round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optimized_spectronaut_to_se()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2E"/>
                </a:solidFill>
                <a:latin typeface="Calibri"/>
              </a:rPr>
              <a:t>Read the Spectronaut report + condition setup, clean the messy column names, build a SummarizedExperiment (4000 × 15). No candidates table needed. plot_numbers() checks each run identified enough proteins.</a:t>
            </a:r>
          </a:p>
        </p:txBody>
      </p:sp>
      <p:pic>
        <p:nvPicPr>
          <p:cNvPr id="8" name="Picture 7" descr="01_numb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669280" cy="40494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89A1C"/>
                </a:solidFill>
                <a:latin typeface="Calibri"/>
              </a:rPr>
              <a:t>PROTEOSE PIPELINE  · 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2E"/>
                </a:solidFill>
                <a:latin typeface="Calibri"/>
              </a:rPr>
              <a:t>Filter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2011680" cy="63500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029200" cy="868680"/>
          </a:xfrm>
          <a:prstGeom prst="round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filter_perseus()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2E"/>
                </a:solidFill>
                <a:latin typeface="Calibri"/>
              </a:rPr>
              <a:t>Drop proteins with too many missing values (4000 → 2837). plot_detect() reveals the missingness is low-abundance dropout (MNAR): proteins with NAs sit at lower intensity — which tells us how to impute.</a:t>
            </a:r>
          </a:p>
        </p:txBody>
      </p:sp>
      <p:pic>
        <p:nvPicPr>
          <p:cNvPr id="8" name="Picture 7" descr="04_det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669280" cy="40494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E767E"/>
                </a:solidFill>
                <a:latin typeface="Calibri"/>
              </a:rPr>
              <a:t>PROTEOSE PIPELINE  · 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2E"/>
                </a:solidFill>
                <a:latin typeface="Calibri"/>
              </a:rPr>
              <a:t>Impute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2011680" cy="63500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029200" cy="868680"/>
          </a:xfrm>
          <a:prstGeom prst="round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impute_perseus()  /  impute_DEP()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2E"/>
                </a:solidFill>
                <a:latin typeface="Calibri"/>
              </a:rPr>
              <a:t>Fill remaining NAs from a left-shifted Gaussian (Perseus style). The raw matrix and an imputation mask are kept as extra assays. plot_imputation() shows the filled-in low-intensity shoulder.</a:t>
            </a:r>
          </a:p>
        </p:txBody>
      </p:sp>
      <p:pic>
        <p:nvPicPr>
          <p:cNvPr id="8" name="Picture 7" descr="06_impu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669280" cy="40494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89A1C"/>
                </a:solidFill>
                <a:latin typeface="Calibri"/>
              </a:rPr>
              <a:t>PROTEOSE PIPELINE  · 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2E"/>
                </a:solidFill>
                <a:latin typeface="Calibri"/>
              </a:rPr>
              <a:t>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2011680" cy="63500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029200" cy="868680"/>
          </a:xfrm>
          <a:prstGeom prst="round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test_diff()  +  add_rejections()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2E"/>
                </a:solidFill>
                <a:latin typeface="Calibri"/>
              </a:rPr>
              <a:t>Differential abundance via limma. type='control' tests each treatment vs Ctrl; rejections flag hits at adj. p &lt; 0.05 and |log2FC| &gt; 1 (92 in TreatA, 102 in TreatB). proteoSE::plot_volcano() draws the result.</a:t>
            </a:r>
          </a:p>
        </p:txBody>
      </p:sp>
      <p:pic>
        <p:nvPicPr>
          <p:cNvPr id="8" name="Picture 7" descr="10_volcano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669280" cy="485938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E767E"/>
                </a:solidFill>
                <a:latin typeface="Calibri"/>
              </a:rPr>
              <a:t>PROTEOSE PIPELINE  · 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2E"/>
                </a:solidFill>
                <a:latin typeface="Calibri"/>
              </a:rPr>
              <a:t>Enrich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2011680" cy="63500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029200" cy="868680"/>
          </a:xfrm>
          <a:prstGeom prst="round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enrich_go_se()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2E"/>
                </a:solidFill>
                <a:latin typeface="Calibri"/>
              </a:rPr>
              <a:t>GO / gene-set enrichment (clusterProfiler::gseGO) on a fold-change column. Results are stored inside metadata(se) — the object stays the single source of truth.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377440"/>
            <a:ext cx="5669280" cy="2011680"/>
          </a:xfrm>
          <a:prstGeom prst="roundRect">
            <a:avLst/>
          </a:prstGeom>
          <a:solidFill>
            <a:srgbClr val="ECE7DD"/>
          </a:solidFill>
          <a:ln>
            <a:solidFill>
              <a:srgbClr val="0E7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>
                <a:solidFill>
                  <a:srgbClr val="5A6B7B"/>
                </a:solidFill>
                <a:latin typeface="Calibri"/>
              </a:rPr>
              <a:t>results live in
metadata(se)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89A1C"/>
                </a:solidFill>
                <a:latin typeface="Calibri"/>
              </a:rPr>
              <a:t>PROTEOSE PIPELINE  · 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A1A2E"/>
                </a:solidFill>
                <a:latin typeface="Calibri"/>
              </a:rPr>
              <a:t>Explore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2011680" cy="63500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029200" cy="868680"/>
          </a:xfrm>
          <a:prstGeom prst="round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se_to_isee()  +  isee_mini()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2E"/>
                </a:solidFill>
                <a:latin typeface="Calibri"/>
              </a:rPr>
              <a:t>Launch an interactive iSEE app with custom panels: volcano plots, NCBI gene links, and a GO-enrichment table — all driven by the same object.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377440"/>
            <a:ext cx="5669280" cy="2011680"/>
          </a:xfrm>
          <a:prstGeom prst="roundRect">
            <a:avLst/>
          </a:prstGeom>
          <a:solidFill>
            <a:srgbClr val="ECE7DD"/>
          </a:solidFill>
          <a:ln>
            <a:solidFill>
              <a:srgbClr val="E89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i="1">
                <a:solidFill>
                  <a:srgbClr val="5A6B7B"/>
                </a:solidFill>
                <a:latin typeface="Calibri"/>
              </a:rPr>
              <a:t>interactive — no static
figure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One object, start to finish.</a:t>
            </a:r>
          </a:p>
          <a:p>
            <a:r>
              <a:rPr sz="2200" b="0" i="0">
                <a:solidFill>
                  <a:srgbClr val="E89A1C"/>
                </a:solidFill>
                <a:latin typeface="Calibri"/>
              </a:rPr>
              <a:t>Full worked example with code + output: vignettes/worked_example.md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